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p:restoredTop sz="94693"/>
  </p:normalViewPr>
  <p:slideViewPr>
    <p:cSldViewPr snapToGrid="0">
      <p:cViewPr>
        <p:scale>
          <a:sx n="80" d="100"/>
          <a:sy n="80" d="100"/>
        </p:scale>
        <p:origin x="2040" y="10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5C1657-03AC-1B14-A85A-DABE3960A9D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DC4CACAE-C4A1-77A3-3FBE-95BCF42CE4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FFDB90FB-C8B3-23F7-8F01-2D12E323FC02}"/>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5" name="Fußzeilenplatzhalter 4">
            <a:extLst>
              <a:ext uri="{FF2B5EF4-FFF2-40B4-BE49-F238E27FC236}">
                <a16:creationId xmlns:a16="http://schemas.microsoft.com/office/drawing/2014/main" id="{0D358BBC-0129-FC67-C062-1E3F2527223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584A3A0-D8C3-3968-E300-EC95C81E87CD}"/>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97713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7EFAF4-5297-C863-6415-E42772B062A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351559B-735F-62A8-ABB0-6E124DE1216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9427C5C-2ACB-E4E0-F1C9-E83A49F354DD}"/>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5" name="Fußzeilenplatzhalter 4">
            <a:extLst>
              <a:ext uri="{FF2B5EF4-FFF2-40B4-BE49-F238E27FC236}">
                <a16:creationId xmlns:a16="http://schemas.microsoft.com/office/drawing/2014/main" id="{BC34D958-E84A-5469-7197-2BA5AD2D077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9D75DFA-70FC-FE80-1387-AC6519F6A497}"/>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2072262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126CA3-4A2B-1E66-DFF2-9D9AE8CFDFC6}"/>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0219A45D-B21F-291D-0290-E80C1872EC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1BE82E76-801C-807C-1279-2B3986E3F1F7}"/>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5" name="Fußzeilenplatzhalter 4">
            <a:extLst>
              <a:ext uri="{FF2B5EF4-FFF2-40B4-BE49-F238E27FC236}">
                <a16:creationId xmlns:a16="http://schemas.microsoft.com/office/drawing/2014/main" id="{34495183-64A9-CC4C-2A2E-F1A8481DE93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46F3E98-63F3-04EB-8DDC-9379EFE44DC5}"/>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578342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17763F-AB2B-B6B7-FF87-7F44610729E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FD603AA-881C-8E9A-594C-BC5DBC91F5E8}"/>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177D2A5D-EC8A-48AD-0CA1-8D03B0506A9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AAEAD8D-F94B-7012-006A-654766684670}"/>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6" name="Fußzeilenplatzhalter 5">
            <a:extLst>
              <a:ext uri="{FF2B5EF4-FFF2-40B4-BE49-F238E27FC236}">
                <a16:creationId xmlns:a16="http://schemas.microsoft.com/office/drawing/2014/main" id="{DE19BE47-6E51-EB8A-F023-E8D28793ACC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4B50281-ACB3-CC22-9EF9-FE16DA8322A2}"/>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4169490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5DB8BE-ECF6-7D53-C2DF-1E0B488E55F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6DD4671C-13E6-569C-564C-50FBA4C831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56FF5A6B-8AE6-290B-D9FE-004365DFAF6D}"/>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1056649-ECD4-7B34-160D-5248411662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4094EE5A-556E-C1F1-1B0F-FA4D54A0B298}"/>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CBD4600-D67E-FDE8-5F70-5E1E304635D3}"/>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8" name="Fußzeilenplatzhalter 7">
            <a:extLst>
              <a:ext uri="{FF2B5EF4-FFF2-40B4-BE49-F238E27FC236}">
                <a16:creationId xmlns:a16="http://schemas.microsoft.com/office/drawing/2014/main" id="{099F35AD-D23F-9684-EAB2-28C9B82F2F16}"/>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A41F3AD2-3B34-32FB-67F5-C0C566A86178}"/>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4216818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2059FF-9F59-0B4A-5122-68DA37BCF599}"/>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1931C8C-E7E3-EEEB-AC91-6EEA584CE541}"/>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4" name="Fußzeilenplatzhalter 3">
            <a:extLst>
              <a:ext uri="{FF2B5EF4-FFF2-40B4-BE49-F238E27FC236}">
                <a16:creationId xmlns:a16="http://schemas.microsoft.com/office/drawing/2014/main" id="{1C0AB476-AA24-30F8-5B7C-EC73AEF47578}"/>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C451BDA6-9A3C-D5C9-43AC-9C094533C392}"/>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3362021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AD41771-05C8-6317-D401-D24F56C4D625}"/>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3" name="Fußzeilenplatzhalter 2">
            <a:extLst>
              <a:ext uri="{FF2B5EF4-FFF2-40B4-BE49-F238E27FC236}">
                <a16:creationId xmlns:a16="http://schemas.microsoft.com/office/drawing/2014/main" id="{E6B1564C-4FE4-C3A2-07E2-F6862D7DC24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4CE7B59-58FC-65BB-64FB-BD431DFA53AA}"/>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3024509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3B8C6C-94B3-BD16-D2D7-40FC208A353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21CFEC91-FFC0-70E8-77B1-BB9AEE31F3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A3BD4B7A-0AEF-4783-5447-B795B42415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8FC2BB2-E8DE-57FF-5D5E-D26B1B8CC990}"/>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6" name="Fußzeilenplatzhalter 5">
            <a:extLst>
              <a:ext uri="{FF2B5EF4-FFF2-40B4-BE49-F238E27FC236}">
                <a16:creationId xmlns:a16="http://schemas.microsoft.com/office/drawing/2014/main" id="{2EDF0867-F6BB-DB62-98FB-5AE411E5E38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BC07828-1C99-284B-A13B-3F7B4C2C94A2}"/>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1671763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B02E4F-D6EA-600D-E538-83272209930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995A6D8-FDF2-AE76-251E-AD469B7B89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6928DA6E-7DE5-6BD7-10F7-572721511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9318BA8-1BBB-74B1-FB59-39925140BF9D}"/>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6" name="Fußzeilenplatzhalter 5">
            <a:extLst>
              <a:ext uri="{FF2B5EF4-FFF2-40B4-BE49-F238E27FC236}">
                <a16:creationId xmlns:a16="http://schemas.microsoft.com/office/drawing/2014/main" id="{68DC1C27-256F-B7FC-5CFC-94EAA42BB5F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F5F9C56-E3AB-D937-41E4-77B85FC8AD52}"/>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1844378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038EC2-FE8A-0629-AEC6-CEA61C7FD77A}"/>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952E3255-BACE-4655-8991-F43D202B938A}"/>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38E551F-5EE9-FC3F-CDA1-8A607B0DE4AC}"/>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5" name="Fußzeilenplatzhalter 4">
            <a:extLst>
              <a:ext uri="{FF2B5EF4-FFF2-40B4-BE49-F238E27FC236}">
                <a16:creationId xmlns:a16="http://schemas.microsoft.com/office/drawing/2014/main" id="{38731330-7FED-04D3-76DF-7E756FB02C5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89628D5-5198-C309-8D04-3545AD4E7F75}"/>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941779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FBCAB481-E219-3E02-6EFE-7E2B95EA9DE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4194BC31-CC66-4D2E-43CD-71B4364BA14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37FA49-A531-66C9-34E2-6FFFCB97FE79}"/>
              </a:ext>
            </a:extLst>
          </p:cNvPr>
          <p:cNvSpPr>
            <a:spLocks noGrp="1"/>
          </p:cNvSpPr>
          <p:nvPr>
            <p:ph type="dt" sz="half" idx="10"/>
          </p:nvPr>
        </p:nvSpPr>
        <p:spPr/>
        <p:txBody>
          <a:bodyPr/>
          <a:lstStyle/>
          <a:p>
            <a:fld id="{02ED97AA-5558-3448-83AD-86E75BAE1726}" type="datetimeFigureOut">
              <a:rPr lang="de-DE" smtClean="0"/>
              <a:t>04.11.24</a:t>
            </a:fld>
            <a:endParaRPr lang="de-DE"/>
          </a:p>
        </p:txBody>
      </p:sp>
      <p:sp>
        <p:nvSpPr>
          <p:cNvPr id="5" name="Fußzeilenplatzhalter 4">
            <a:extLst>
              <a:ext uri="{FF2B5EF4-FFF2-40B4-BE49-F238E27FC236}">
                <a16:creationId xmlns:a16="http://schemas.microsoft.com/office/drawing/2014/main" id="{4719480C-6460-2E9B-0F58-E4D8360DB3B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FB283FC-2D60-9ECC-2228-DDF08AB1ADCD}"/>
              </a:ext>
            </a:extLst>
          </p:cNvPr>
          <p:cNvSpPr>
            <a:spLocks noGrp="1"/>
          </p:cNvSpPr>
          <p:nvPr>
            <p:ph type="sldNum" sz="quarter" idx="12"/>
          </p:nvPr>
        </p:nvSpPr>
        <p:spPr/>
        <p:txBody>
          <a:bodyPr/>
          <a:lstStyle/>
          <a:p>
            <a:fld id="{3CC569FA-B742-0347-AD27-09C02344E14E}" type="slidenum">
              <a:rPr lang="de-DE" smtClean="0"/>
              <a:t>‹Nr.›</a:t>
            </a:fld>
            <a:endParaRPr lang="de-DE"/>
          </a:p>
        </p:txBody>
      </p:sp>
    </p:spTree>
    <p:extLst>
      <p:ext uri="{BB962C8B-B14F-4D97-AF65-F5344CB8AC3E}">
        <p14:creationId xmlns:p14="http://schemas.microsoft.com/office/powerpoint/2010/main" val="3906921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8FEF0AB-A0EF-5A5E-947B-AEDCD6BD9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C882AEE1-4372-66E4-EE5A-5013EE5944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CD7BB0F-FC61-FF60-2D97-4B642F83A6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ED97AA-5558-3448-83AD-86E75BAE1726}" type="datetimeFigureOut">
              <a:rPr lang="de-DE" smtClean="0"/>
              <a:t>04.11.24</a:t>
            </a:fld>
            <a:endParaRPr lang="de-DE"/>
          </a:p>
        </p:txBody>
      </p:sp>
      <p:sp>
        <p:nvSpPr>
          <p:cNvPr id="5" name="Fußzeilenplatzhalter 4">
            <a:extLst>
              <a:ext uri="{FF2B5EF4-FFF2-40B4-BE49-F238E27FC236}">
                <a16:creationId xmlns:a16="http://schemas.microsoft.com/office/drawing/2014/main" id="{925F6CB2-2FDE-2D0F-D084-0CD339AC2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83B3C087-A00B-DD65-9B00-2E788C38C0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C569FA-B742-0347-AD27-09C02344E14E}" type="slidenum">
              <a:rPr lang="de-DE" smtClean="0"/>
              <a:t>‹Nr.›</a:t>
            </a:fld>
            <a:endParaRPr lang="de-DE"/>
          </a:p>
        </p:txBody>
      </p:sp>
    </p:spTree>
    <p:extLst>
      <p:ext uri="{BB962C8B-B14F-4D97-AF65-F5344CB8AC3E}">
        <p14:creationId xmlns:p14="http://schemas.microsoft.com/office/powerpoint/2010/main" val="1461948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58560-E695-E83B-6600-8E23BC8B4C0D}"/>
              </a:ext>
            </a:extLst>
          </p:cNvPr>
          <p:cNvSpPr>
            <a:spLocks noGrp="1"/>
          </p:cNvSpPr>
          <p:nvPr>
            <p:ph type="title"/>
          </p:nvPr>
        </p:nvSpPr>
        <p:spPr/>
        <p:txBody>
          <a:bodyPr/>
          <a:lstStyle/>
          <a:p>
            <a:r>
              <a:rPr lang="de-DE" dirty="0" err="1"/>
              <a:t>Rasterization</a:t>
            </a:r>
            <a:r>
              <a:rPr lang="de-DE" dirty="0"/>
              <a:t>:</a:t>
            </a:r>
          </a:p>
        </p:txBody>
      </p:sp>
      <p:sp>
        <p:nvSpPr>
          <p:cNvPr id="3" name="Inhaltsplatzhalter 2">
            <a:extLst>
              <a:ext uri="{FF2B5EF4-FFF2-40B4-BE49-F238E27FC236}">
                <a16:creationId xmlns:a16="http://schemas.microsoft.com/office/drawing/2014/main" id="{C251D0AA-C96F-9653-9A24-FF261F126A05}"/>
              </a:ext>
            </a:extLst>
          </p:cNvPr>
          <p:cNvSpPr>
            <a:spLocks noGrp="1"/>
          </p:cNvSpPr>
          <p:nvPr>
            <p:ph idx="1"/>
          </p:nvPr>
        </p:nvSpPr>
        <p:spPr/>
        <p:txBody>
          <a:bodyPr>
            <a:normAutofit/>
          </a:bodyPr>
          <a:lstStyle/>
          <a:p>
            <a:pPr>
              <a:buFont typeface="Wingdings" pitchFamily="2" charset="2"/>
              <a:buChar char="à"/>
            </a:pPr>
            <a:r>
              <a:rPr lang="de-DE" sz="2400" dirty="0" err="1"/>
              <a:t>Rasterization</a:t>
            </a:r>
            <a:r>
              <a:rPr lang="de-DE" sz="2400" dirty="0"/>
              <a:t> ist eine Methode, um 3D-Modelle in 2D-Bilder umzuwandeln, indem Geometrie in Pixel auf einem Raster abgebildet wird.</a:t>
            </a:r>
          </a:p>
          <a:p>
            <a:pPr>
              <a:buFont typeface="Wingdings" pitchFamily="2" charset="2"/>
              <a:buChar char="à"/>
            </a:pPr>
            <a:endParaRPr lang="de-DE" sz="2400" dirty="0"/>
          </a:p>
          <a:p>
            <a:pPr>
              <a:buFont typeface="Wingdings" pitchFamily="2" charset="2"/>
              <a:buChar char="à"/>
            </a:pPr>
            <a:r>
              <a:rPr lang="de-DE" sz="2400" b="0" i="0" u="none" strike="noStrike" dirty="0">
                <a:solidFill>
                  <a:srgbClr val="000000"/>
                </a:solidFill>
                <a:effectLst/>
                <a:latin typeface="-webkit-standard"/>
              </a:rPr>
              <a:t>Die Grenzen und Herausforderungen der </a:t>
            </a:r>
            <a:r>
              <a:rPr lang="de-DE" sz="2400" b="0" i="0" u="none" strike="noStrike" dirty="0" err="1">
                <a:solidFill>
                  <a:srgbClr val="000000"/>
                </a:solidFill>
                <a:effectLst/>
                <a:latin typeface="-webkit-standard"/>
              </a:rPr>
              <a:t>Rasterization</a:t>
            </a:r>
            <a:r>
              <a:rPr lang="de-DE" sz="2400" b="0" i="0" u="none" strike="noStrike" dirty="0">
                <a:solidFill>
                  <a:srgbClr val="000000"/>
                </a:solidFill>
                <a:effectLst/>
                <a:latin typeface="-webkit-standard"/>
              </a:rPr>
              <a:t> liegen in der begrenzten Genauigkeit bei der Darstellung komplexer Beleuchtungseffekte, wie Reflexionen, Schatten oder Transparenz, was oft zusätzliche Techniken wie Shader oder Ray-Tracing erfordert, um realistische Effekte zu erzielen.</a:t>
            </a:r>
            <a:endParaRPr lang="de-DE" sz="2400" dirty="0"/>
          </a:p>
        </p:txBody>
      </p:sp>
      <p:pic>
        <p:nvPicPr>
          <p:cNvPr id="1026" name="Picture 2">
            <a:extLst>
              <a:ext uri="{FF2B5EF4-FFF2-40B4-BE49-F238E27FC236}">
                <a16:creationId xmlns:a16="http://schemas.microsoft.com/office/drawing/2014/main" id="{2AEE4CD2-916B-32A7-DAB7-B500AC6BB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4691" y="4460875"/>
            <a:ext cx="3048000" cy="2032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a:extLst>
              <a:ext uri="{FF2B5EF4-FFF2-40B4-BE49-F238E27FC236}">
                <a16:creationId xmlns:a16="http://schemas.microsoft.com/office/drawing/2014/main" id="{30E9A469-D411-CCE4-1D9B-9CBA7E78263C}"/>
              </a:ext>
            </a:extLst>
          </p:cNvPr>
          <p:cNvSpPr txBox="1"/>
          <p:nvPr/>
        </p:nvSpPr>
        <p:spPr>
          <a:xfrm>
            <a:off x="6487886" y="6587218"/>
            <a:ext cx="6096000" cy="169277"/>
          </a:xfrm>
          <a:prstGeom prst="rect">
            <a:avLst/>
          </a:prstGeom>
          <a:noFill/>
        </p:spPr>
        <p:txBody>
          <a:bodyPr wrap="square">
            <a:spAutoFit/>
          </a:bodyPr>
          <a:lstStyle/>
          <a:p>
            <a:r>
              <a:rPr lang="de-DE" sz="500" dirty="0"/>
              <a:t>Bildquelle: https://</a:t>
            </a:r>
            <a:r>
              <a:rPr lang="de-DE" sz="500" dirty="0" err="1"/>
              <a:t>www.researchgate.net</a:t>
            </a:r>
            <a:r>
              <a:rPr lang="de-DE" sz="500" dirty="0"/>
              <a:t>/</a:t>
            </a:r>
            <a:r>
              <a:rPr lang="de-DE" sz="500" dirty="0" err="1"/>
              <a:t>profile</a:t>
            </a:r>
            <a:r>
              <a:rPr lang="de-DE" sz="500" dirty="0"/>
              <a:t>/Petter-Smart/</a:t>
            </a:r>
            <a:r>
              <a:rPr lang="de-DE" sz="500" dirty="0" err="1"/>
              <a:t>publication</a:t>
            </a:r>
            <a:r>
              <a:rPr lang="de-DE" sz="500" dirty="0"/>
              <a:t>/225493790/</a:t>
            </a:r>
            <a:r>
              <a:rPr lang="de-DE" sz="500" dirty="0" err="1"/>
              <a:t>figure</a:t>
            </a:r>
            <a:r>
              <a:rPr lang="de-DE" sz="500" dirty="0"/>
              <a:t>/fig1/AS:342612138577923@1458696507372/</a:t>
            </a:r>
            <a:r>
              <a:rPr lang="de-DE" sz="500" dirty="0" err="1"/>
              <a:t>Rasterisation</a:t>
            </a:r>
            <a:r>
              <a:rPr lang="de-DE" sz="500" dirty="0"/>
              <a:t>-</a:t>
            </a:r>
            <a:r>
              <a:rPr lang="de-DE" sz="500" dirty="0" err="1"/>
              <a:t>of</a:t>
            </a:r>
            <a:r>
              <a:rPr lang="de-DE" sz="500" dirty="0"/>
              <a:t>-a-</a:t>
            </a:r>
            <a:r>
              <a:rPr lang="de-DE" sz="500" dirty="0" err="1"/>
              <a:t>graphics</a:t>
            </a:r>
            <a:r>
              <a:rPr lang="de-DE" sz="500" dirty="0"/>
              <a:t>-primitive-</a:t>
            </a:r>
            <a:r>
              <a:rPr lang="de-DE" sz="500" dirty="0" err="1"/>
              <a:t>into</a:t>
            </a:r>
            <a:r>
              <a:rPr lang="de-DE" sz="500" dirty="0"/>
              <a:t>-</a:t>
            </a:r>
            <a:r>
              <a:rPr lang="de-DE" sz="500" dirty="0" err="1"/>
              <a:t>pixels.png</a:t>
            </a:r>
            <a:endParaRPr lang="de-DE" sz="500" dirty="0"/>
          </a:p>
        </p:txBody>
      </p:sp>
    </p:spTree>
    <p:extLst>
      <p:ext uri="{BB962C8B-B14F-4D97-AF65-F5344CB8AC3E}">
        <p14:creationId xmlns:p14="http://schemas.microsoft.com/office/powerpoint/2010/main" val="7225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2372E-84D1-8480-9DC4-5ABF62D194D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10C2AB9-F8DB-84E2-2EAF-3DE5E57C00CC}"/>
              </a:ext>
            </a:extLst>
          </p:cNvPr>
          <p:cNvSpPr>
            <a:spLocks noGrp="1"/>
          </p:cNvSpPr>
          <p:nvPr>
            <p:ph type="title"/>
          </p:nvPr>
        </p:nvSpPr>
        <p:spPr/>
        <p:txBody>
          <a:bodyPr/>
          <a:lstStyle/>
          <a:p>
            <a:r>
              <a:rPr lang="de-DE" dirty="0"/>
              <a:t>Ray Casting</a:t>
            </a:r>
          </a:p>
        </p:txBody>
      </p:sp>
      <p:sp>
        <p:nvSpPr>
          <p:cNvPr id="3" name="Inhaltsplatzhalter 2">
            <a:extLst>
              <a:ext uri="{FF2B5EF4-FFF2-40B4-BE49-F238E27FC236}">
                <a16:creationId xmlns:a16="http://schemas.microsoft.com/office/drawing/2014/main" id="{EAECC301-9D2B-3C06-AFB7-85A75DDF7E5D}"/>
              </a:ext>
            </a:extLst>
          </p:cNvPr>
          <p:cNvSpPr>
            <a:spLocks noGrp="1"/>
          </p:cNvSpPr>
          <p:nvPr>
            <p:ph idx="1"/>
          </p:nvPr>
        </p:nvSpPr>
        <p:spPr/>
        <p:txBody>
          <a:bodyPr>
            <a:normAutofit/>
          </a:bodyPr>
          <a:lstStyle/>
          <a:p>
            <a:pPr>
              <a:buFont typeface="Wingdings" pitchFamily="2" charset="2"/>
              <a:buChar char="à"/>
            </a:pPr>
            <a:r>
              <a:rPr lang="de-DE" sz="2400" dirty="0"/>
              <a:t>Ray Casting ist eine Technik zur Bilderzeugung, bei der virtuelle Strahlen von der Kamera in die Szene gesendet werden, um den ersten Schnittpunkt mit Objekten zu berechnen und deren Sichtbarkeit und Farbe zu bestimmen.</a:t>
            </a:r>
          </a:p>
          <a:p>
            <a:pPr>
              <a:buFont typeface="Wingdings" pitchFamily="2" charset="2"/>
              <a:buChar char="à"/>
            </a:pPr>
            <a:endParaRPr lang="de-DE" sz="2400" dirty="0"/>
          </a:p>
          <a:p>
            <a:pPr>
              <a:buFont typeface="Wingdings" pitchFamily="2" charset="2"/>
              <a:buChar char="à"/>
            </a:pPr>
            <a:r>
              <a:rPr lang="de-DE" sz="2400" dirty="0"/>
              <a:t>Die Grenzen und Herausforderungen von Ray Casting liegen in der fehlenden Berechnung sekundärer Lichtstrahlen, was die Darstellung realistischer Beleuchtung, Schatten und Transparenzeffekte erschwert, und in der hohen Rechenlast bei komplexen Szenen.</a:t>
            </a:r>
          </a:p>
        </p:txBody>
      </p:sp>
      <p:sp>
        <p:nvSpPr>
          <p:cNvPr id="5" name="Textfeld 4">
            <a:extLst>
              <a:ext uri="{FF2B5EF4-FFF2-40B4-BE49-F238E27FC236}">
                <a16:creationId xmlns:a16="http://schemas.microsoft.com/office/drawing/2014/main" id="{42017B4D-6183-BCC9-4FF2-16794F393BA9}"/>
              </a:ext>
            </a:extLst>
          </p:cNvPr>
          <p:cNvSpPr txBox="1"/>
          <p:nvPr/>
        </p:nvSpPr>
        <p:spPr>
          <a:xfrm>
            <a:off x="6981687" y="6580640"/>
            <a:ext cx="6096000" cy="169277"/>
          </a:xfrm>
          <a:prstGeom prst="rect">
            <a:avLst/>
          </a:prstGeom>
          <a:noFill/>
        </p:spPr>
        <p:txBody>
          <a:bodyPr wrap="square">
            <a:spAutoFit/>
          </a:bodyPr>
          <a:lstStyle/>
          <a:p>
            <a:r>
              <a:rPr lang="de-DE" sz="500" dirty="0"/>
              <a:t>Bildquelle: https://</a:t>
            </a:r>
            <a:r>
              <a:rPr lang="de-DE" sz="500" dirty="0" err="1"/>
              <a:t>en.wikipedia.org</a:t>
            </a:r>
            <a:r>
              <a:rPr lang="de-DE" sz="500" dirty="0"/>
              <a:t>/</a:t>
            </a:r>
            <a:r>
              <a:rPr lang="de-DE" sz="500" dirty="0" err="1"/>
              <a:t>wiki</a:t>
            </a:r>
            <a:r>
              <a:rPr lang="de-DE" sz="500" dirty="0"/>
              <a:t>/</a:t>
            </a:r>
            <a:r>
              <a:rPr lang="de-DE" sz="500" dirty="0" err="1"/>
              <a:t>Ray_casting</a:t>
            </a:r>
            <a:r>
              <a:rPr lang="de-DE" sz="500" dirty="0"/>
              <a:t>#/</a:t>
            </a:r>
            <a:r>
              <a:rPr lang="de-DE" sz="500" dirty="0" err="1"/>
              <a:t>media</a:t>
            </a:r>
            <a:r>
              <a:rPr lang="de-DE" sz="500" dirty="0"/>
              <a:t>/</a:t>
            </a:r>
            <a:r>
              <a:rPr lang="de-DE" sz="500" dirty="0" err="1"/>
              <a:t>File:Simple_raycasting_with_fisheye_correction.gif</a:t>
            </a:r>
            <a:endParaRPr lang="de-DE" sz="500" dirty="0"/>
          </a:p>
        </p:txBody>
      </p:sp>
      <p:pic>
        <p:nvPicPr>
          <p:cNvPr id="4" name="Grafik 3">
            <a:extLst>
              <a:ext uri="{FF2B5EF4-FFF2-40B4-BE49-F238E27FC236}">
                <a16:creationId xmlns:a16="http://schemas.microsoft.com/office/drawing/2014/main" id="{9C441FD1-1F8E-9115-3C34-8832C41EC12B}"/>
              </a:ext>
            </a:extLst>
          </p:cNvPr>
          <p:cNvPicPr>
            <a:picLocks noChangeAspect="1"/>
          </p:cNvPicPr>
          <p:nvPr/>
        </p:nvPicPr>
        <p:blipFill>
          <a:blip r:embed="rId2"/>
          <a:stretch>
            <a:fillRect/>
          </a:stretch>
        </p:blipFill>
        <p:spPr>
          <a:xfrm>
            <a:off x="6981687" y="4765675"/>
            <a:ext cx="4775200" cy="1727200"/>
          </a:xfrm>
          <a:prstGeom prst="rect">
            <a:avLst/>
          </a:prstGeom>
        </p:spPr>
      </p:pic>
    </p:spTree>
    <p:extLst>
      <p:ext uri="{BB962C8B-B14F-4D97-AF65-F5344CB8AC3E}">
        <p14:creationId xmlns:p14="http://schemas.microsoft.com/office/powerpoint/2010/main" val="1316865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BD263-9D31-7015-5EBA-08FD1EFCE40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5951E99-6E12-F8D0-3446-A7FAA1E1BF10}"/>
              </a:ext>
            </a:extLst>
          </p:cNvPr>
          <p:cNvSpPr>
            <a:spLocks noGrp="1"/>
          </p:cNvSpPr>
          <p:nvPr>
            <p:ph type="title"/>
          </p:nvPr>
        </p:nvSpPr>
        <p:spPr/>
        <p:txBody>
          <a:bodyPr/>
          <a:lstStyle/>
          <a:p>
            <a:r>
              <a:rPr lang="de-DE" dirty="0"/>
              <a:t>Ray Tracing</a:t>
            </a:r>
          </a:p>
        </p:txBody>
      </p:sp>
      <p:sp>
        <p:nvSpPr>
          <p:cNvPr id="3" name="Inhaltsplatzhalter 2">
            <a:extLst>
              <a:ext uri="{FF2B5EF4-FFF2-40B4-BE49-F238E27FC236}">
                <a16:creationId xmlns:a16="http://schemas.microsoft.com/office/drawing/2014/main" id="{7344F6C7-2A7A-A8FB-17E0-A66AD6766F4C}"/>
              </a:ext>
            </a:extLst>
          </p:cNvPr>
          <p:cNvSpPr>
            <a:spLocks noGrp="1"/>
          </p:cNvSpPr>
          <p:nvPr>
            <p:ph idx="1"/>
          </p:nvPr>
        </p:nvSpPr>
        <p:spPr/>
        <p:txBody>
          <a:bodyPr>
            <a:normAutofit/>
          </a:bodyPr>
          <a:lstStyle/>
          <a:p>
            <a:pPr>
              <a:buFont typeface="Wingdings" pitchFamily="2" charset="2"/>
              <a:buChar char="à"/>
            </a:pPr>
            <a:r>
              <a:rPr lang="de-DE" sz="2400" dirty="0"/>
              <a:t>Ray Tracing ist eine </a:t>
            </a:r>
            <a:r>
              <a:rPr lang="de-DE" sz="2400" dirty="0" err="1"/>
              <a:t>Render</a:t>
            </a:r>
            <a:r>
              <a:rPr lang="de-DE" sz="2400" dirty="0"/>
              <a:t>-Technik, die Lichtstrahlen realistisch simuliert, indem sie ihren Weg durch eine Szene verfolgt und so physikalisch korrekte Effekte wie Reflexionen, Brechungen und Schatten erzeugt.</a:t>
            </a:r>
          </a:p>
          <a:p>
            <a:pPr marL="0" indent="0">
              <a:buNone/>
            </a:pPr>
            <a:endParaRPr lang="de-DE" sz="2400" dirty="0"/>
          </a:p>
          <a:p>
            <a:pPr>
              <a:buFont typeface="Wingdings" pitchFamily="2" charset="2"/>
              <a:buChar char="à"/>
            </a:pPr>
            <a:r>
              <a:rPr lang="de-DE" sz="2400" dirty="0"/>
              <a:t>Die Grenzen und Herausforderungen von Ray Tracing liegen im hohen Rechenaufwand, da komplexe Lichtstrahlen für realistische Effekte wie Reflexionen, Schatten und Transparenz simuliert werden müssen, was es für Echtzeitanwendungen wie Videospiele ressourcenintensiv und schwer skalierbar macht.</a:t>
            </a:r>
          </a:p>
        </p:txBody>
      </p:sp>
      <p:sp>
        <p:nvSpPr>
          <p:cNvPr id="5" name="Textfeld 4">
            <a:extLst>
              <a:ext uri="{FF2B5EF4-FFF2-40B4-BE49-F238E27FC236}">
                <a16:creationId xmlns:a16="http://schemas.microsoft.com/office/drawing/2014/main" id="{809E101F-71E4-9C85-59D6-4B7D87DEFBA3}"/>
              </a:ext>
            </a:extLst>
          </p:cNvPr>
          <p:cNvSpPr txBox="1"/>
          <p:nvPr/>
        </p:nvSpPr>
        <p:spPr>
          <a:xfrm>
            <a:off x="8636951" y="6567291"/>
            <a:ext cx="6096000" cy="169277"/>
          </a:xfrm>
          <a:prstGeom prst="rect">
            <a:avLst/>
          </a:prstGeom>
          <a:noFill/>
        </p:spPr>
        <p:txBody>
          <a:bodyPr wrap="square">
            <a:spAutoFit/>
          </a:bodyPr>
          <a:lstStyle/>
          <a:p>
            <a:r>
              <a:rPr lang="de-DE" sz="500" dirty="0"/>
              <a:t>Bildquelle: https://</a:t>
            </a:r>
            <a:r>
              <a:rPr lang="de-DE" sz="500" dirty="0" err="1"/>
              <a:t>de.wikipedia.org</a:t>
            </a:r>
            <a:r>
              <a:rPr lang="de-DE" sz="500" dirty="0"/>
              <a:t>/</a:t>
            </a:r>
            <a:r>
              <a:rPr lang="de-DE" sz="500" dirty="0" err="1"/>
              <a:t>wiki</a:t>
            </a:r>
            <a:r>
              <a:rPr lang="de-DE" sz="500" dirty="0"/>
              <a:t>/</a:t>
            </a:r>
            <a:r>
              <a:rPr lang="de-DE" sz="500" dirty="0" err="1"/>
              <a:t>Raytracing</a:t>
            </a:r>
            <a:r>
              <a:rPr lang="de-DE" sz="500" dirty="0"/>
              <a:t>#/</a:t>
            </a:r>
            <a:r>
              <a:rPr lang="de-DE" sz="500" dirty="0" err="1"/>
              <a:t>media</a:t>
            </a:r>
            <a:r>
              <a:rPr lang="de-DE" sz="500" dirty="0"/>
              <a:t>/</a:t>
            </a:r>
            <a:r>
              <a:rPr lang="de-DE" sz="500" dirty="0" err="1"/>
              <a:t>Datei:Box</a:t>
            </a:r>
            <a:r>
              <a:rPr lang="de-DE" sz="500" dirty="0"/>
              <a:t>_-_</a:t>
            </a:r>
            <a:r>
              <a:rPr lang="de-DE" sz="500" dirty="0" err="1"/>
              <a:t>Path_Tracing_High.png</a:t>
            </a:r>
            <a:endParaRPr lang="de-DE" sz="500" dirty="0"/>
          </a:p>
        </p:txBody>
      </p:sp>
      <p:pic>
        <p:nvPicPr>
          <p:cNvPr id="3074" name="Picture 2" descr="undefined">
            <a:extLst>
              <a:ext uri="{FF2B5EF4-FFF2-40B4-BE49-F238E27FC236}">
                <a16:creationId xmlns:a16="http://schemas.microsoft.com/office/drawing/2014/main" id="{B3E4CE93-1A84-D9A5-0BDB-5B9B536A7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1953" y="4908108"/>
            <a:ext cx="1584767" cy="1584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76595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298</Words>
  <Application>Microsoft Macintosh PowerPoint</Application>
  <PresentationFormat>Breitbild</PresentationFormat>
  <Paragraphs>15</Paragraphs>
  <Slides>3</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vt:i4>
      </vt:variant>
    </vt:vector>
  </HeadingPairs>
  <TitlesOfParts>
    <vt:vector size="9" baseType="lpstr">
      <vt:lpstr>-webkit-standard</vt:lpstr>
      <vt:lpstr>Aptos</vt:lpstr>
      <vt:lpstr>Aptos Display</vt:lpstr>
      <vt:lpstr>Arial</vt:lpstr>
      <vt:lpstr>Wingdings</vt:lpstr>
      <vt:lpstr>Office</vt:lpstr>
      <vt:lpstr>Rasterization:</vt:lpstr>
      <vt:lpstr>Ray Casting</vt:lpstr>
      <vt:lpstr>Ray Tracing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Vinzent Engel</dc:creator>
  <cp:lastModifiedBy>Vinzent Engel</cp:lastModifiedBy>
  <cp:revision>3</cp:revision>
  <dcterms:created xsi:type="dcterms:W3CDTF">2024-11-04T16:45:43Z</dcterms:created>
  <dcterms:modified xsi:type="dcterms:W3CDTF">2024-11-05T07:15:16Z</dcterms:modified>
</cp:coreProperties>
</file>